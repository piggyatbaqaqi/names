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1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3" r:id="rId8"/>
    <p:sldId id="263" r:id="rId9"/>
    <p:sldId id="264" r:id="rId10"/>
    <p:sldId id="266" r:id="rId11"/>
    <p:sldId id="267" r:id="rId12"/>
    <p:sldId id="269" r:id="rId13"/>
    <p:sldId id="271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mes" id="{ED9CFEDC-8929-C14F-9C4E-8E93B5B55BD8}">
          <p14:sldIdLst>
            <p14:sldId id="256"/>
            <p14:sldId id="257"/>
            <p14:sldId id="258"/>
            <p14:sldId id="259"/>
            <p14:sldId id="262"/>
            <p14:sldId id="260"/>
            <p14:sldId id="273"/>
            <p14:sldId id="263"/>
            <p14:sldId id="264"/>
            <p14:sldId id="266"/>
            <p14:sldId id="267"/>
            <p14:sldId id="269"/>
            <p14:sldId id="271"/>
            <p14:sldId id="27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DE146-393D-2E23-2489-FE2BAFBD31D3}" v="466" dt="2024-06-17T12:42:03.451"/>
    <p1510:client id="{7E60AAAA-EC20-2911-6ADE-260502CA59E8}" v="16" dt="2024-06-18T01:04:18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seyi Durosinmi-Etti" userId="S::odurosin@syr.edu::78a90f62-bb64-48e6-b841-eb0ff3f41874" providerId="AD" clId="Web-{7E60AAAA-EC20-2911-6ADE-260502CA59E8}"/>
    <pc:docChg chg="delSld modSection">
      <pc:chgData name="Oluwaseyi Durosinmi-Etti" userId="S::odurosin@syr.edu::78a90f62-bb64-48e6-b841-eb0ff3f41874" providerId="AD" clId="Web-{7E60AAAA-EC20-2911-6ADE-260502CA59E8}" dt="2024-06-18T01:04:18.544" v="15"/>
      <pc:docMkLst>
        <pc:docMk/>
      </pc:docMkLst>
      <pc:sldChg chg="del">
        <pc:chgData name="Oluwaseyi Durosinmi-Etti" userId="S::odurosin@syr.edu::78a90f62-bb64-48e6-b841-eb0ff3f41874" providerId="AD" clId="Web-{7E60AAAA-EC20-2911-6ADE-260502CA59E8}" dt="2024-06-18T01:03:53.715" v="14"/>
        <pc:sldMkLst>
          <pc:docMk/>
          <pc:sldMk cId="331814280" sldId="256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13"/>
        <pc:sldMkLst>
          <pc:docMk/>
          <pc:sldMk cId="4273577922" sldId="257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12"/>
        <pc:sldMkLst>
          <pc:docMk/>
          <pc:sldMk cId="169547585" sldId="258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11"/>
        <pc:sldMkLst>
          <pc:docMk/>
          <pc:sldMk cId="1457386327" sldId="259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9"/>
        <pc:sldMkLst>
          <pc:docMk/>
          <pc:sldMk cId="2393089103" sldId="260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10"/>
        <pc:sldMkLst>
          <pc:docMk/>
          <pc:sldMk cId="2386156366" sldId="262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7"/>
        <pc:sldMkLst>
          <pc:docMk/>
          <pc:sldMk cId="2869533559" sldId="263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6"/>
        <pc:sldMkLst>
          <pc:docMk/>
          <pc:sldMk cId="3725794083" sldId="264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0"/>
        <pc:sldMkLst>
          <pc:docMk/>
          <pc:sldMk cId="4258886258" sldId="265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5"/>
        <pc:sldMkLst>
          <pc:docMk/>
          <pc:sldMk cId="586555468" sldId="266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4"/>
        <pc:sldMkLst>
          <pc:docMk/>
          <pc:sldMk cId="3990352911" sldId="267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3"/>
        <pc:sldMkLst>
          <pc:docMk/>
          <pc:sldMk cId="2405850420" sldId="269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1"/>
        <pc:sldMkLst>
          <pc:docMk/>
          <pc:sldMk cId="3863412627" sldId="270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00" v="2"/>
        <pc:sldMkLst>
          <pc:docMk/>
          <pc:sldMk cId="2689462618" sldId="271"/>
        </pc:sldMkLst>
      </pc:sldChg>
      <pc:sldChg chg="del">
        <pc:chgData name="Oluwaseyi Durosinmi-Etti" userId="S::odurosin@syr.edu::78a90f62-bb64-48e6-b841-eb0ff3f41874" providerId="AD" clId="Web-{7E60AAAA-EC20-2911-6ADE-260502CA59E8}" dt="2024-06-18T01:03:53.715" v="8"/>
        <pc:sldMkLst>
          <pc:docMk/>
          <pc:sldMk cId="349618309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7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2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7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6/17/2024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5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6/17/2024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6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6/17/2024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1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2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3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8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3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1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excelligent.fi/category/power-b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://2012books.lardbucket.org/books/public-speaking-practice-and-ethics/s08-01-why-conduct-an-audience-analys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hyperlink" Target="https://www.flickr.com/photos/south-african-tourism/20328364570" TargetMode="External"/><Relationship Id="rId7" Type="http://schemas.openxmlformats.org/officeDocument/2006/relationships/hyperlink" Target="https://openoregon.pressbooks.pub/lbcctechwriting/chapter/2-8-appreciating-different-culture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hyperlink" Target="https://socialwork.buffalo.edu/resources/conversations-about-culture.html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481" b="23519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759" y="1858086"/>
            <a:ext cx="9144000" cy="290051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Name Navigator</a:t>
            </a:r>
            <a:br>
              <a:rPr lang="en-US" dirty="0"/>
            </a:br>
            <a:br>
              <a:rPr lang="en-US" dirty="0"/>
            </a:br>
            <a:r>
              <a:rPr lang="en-US" sz="1800" dirty="0">
                <a:latin typeface="ui-sans-serif"/>
                <a:cs typeface="Calibri Light"/>
              </a:rPr>
              <a:t>    Our goal is to achieve cultural awareness by accurately capturing and respecting the nuances of sensitive names</a:t>
            </a:r>
            <a:r>
              <a:rPr lang="en-US" sz="1800" dirty="0">
                <a:solidFill>
                  <a:schemeClr val="bg1"/>
                </a:solidFill>
                <a:latin typeface="ui-sans-serif"/>
                <a:cs typeface="Calibri Light"/>
              </a:rPr>
              <a:t>.</a:t>
            </a:r>
            <a:br>
              <a:rPr lang="en-US" sz="1400" dirty="0">
                <a:ea typeface="Calibri Light"/>
                <a:cs typeface="Calibri Light"/>
              </a:rPr>
            </a:b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814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usiness meeting in café">
            <a:extLst>
              <a:ext uri="{FF2B5EF4-FFF2-40B4-BE49-F238E27FC236}">
                <a16:creationId xmlns:a16="http://schemas.microsoft.com/office/drawing/2014/main" id="{5C16F2DD-D7AA-50D9-0595-3420DD09C3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5139" r="-1" b="2710"/>
          <a:stretch/>
        </p:blipFill>
        <p:spPr>
          <a:xfrm>
            <a:off x="4463270" y="47032"/>
            <a:ext cx="7644062" cy="3681406"/>
          </a:xfrm>
          <a:prstGeom prst="rect">
            <a:avLst/>
          </a:prstGeom>
        </p:spPr>
      </p:pic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26" r="-1" b="33365"/>
          <a:stretch/>
        </p:blipFill>
        <p:spPr>
          <a:xfrm>
            <a:off x="4547938" y="3713426"/>
            <a:ext cx="7644062" cy="317659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DD304-161D-3705-FB66-647337BF9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21" y="587412"/>
            <a:ext cx="6755241" cy="59047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Create a Sense of Belonging for Clients</a:t>
            </a: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Our add-on enables customer service agents to address clients by their personalized names.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ui-sans-serif"/>
              <a:ea typeface="+mj-ea"/>
              <a:cs typeface="Calibri Light"/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Foster Individuality</a:t>
            </a: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By considering clients' locales (language and country), we learn and respect each individual's culture and uniqueness.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ui-sans-serif"/>
              <a:ea typeface="+mj-ea"/>
              <a:cs typeface="Calibri Light"/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Build Trust</a:t>
            </a: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ui-sans-serif"/>
                <a:ea typeface="+mj-ea"/>
                <a:cs typeface="Calibri Light"/>
              </a:rPr>
              <a:t>People feel more secure and trusted when they can relate to someone or something. Name Navigator facilitates this by allowing client agents to use clients' local contexts appropriately.</a:t>
            </a:r>
          </a:p>
          <a:p>
            <a:pPr algn="l"/>
            <a:br>
              <a:rPr lang="en-US" dirty="0"/>
            </a:br>
            <a:endParaRPr lang="en-US">
              <a:solidFill>
                <a:schemeClr val="bg1"/>
              </a:solidFill>
              <a:cs typeface="Calibri"/>
            </a:endParaRPr>
          </a:p>
          <a:p>
            <a:pPr algn="l"/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118002-1593-B6DA-FB2C-2BDA328EE72A}"/>
              </a:ext>
            </a:extLst>
          </p:cNvPr>
          <p:cNvSpPr txBox="1"/>
          <p:nvPr/>
        </p:nvSpPr>
        <p:spPr>
          <a:xfrm>
            <a:off x="507999" y="0"/>
            <a:ext cx="59360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bg1"/>
                </a:solidFill>
                <a:cs typeface="Calibri"/>
              </a:rPr>
              <a:t>Why Name Navigator ?</a:t>
            </a:r>
          </a:p>
        </p:txBody>
      </p:sp>
    </p:spTree>
    <p:extLst>
      <p:ext uri="{BB962C8B-B14F-4D97-AF65-F5344CB8AC3E}">
        <p14:creationId xmlns:p14="http://schemas.microsoft.com/office/powerpoint/2010/main" val="427357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62" r="-2" b="23851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71" y="123149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Conceptual model </a:t>
            </a:r>
            <a:b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B8F97-0A85-4CC7-3A7E-F08AE58B4F8E}"/>
              </a:ext>
            </a:extLst>
          </p:cNvPr>
          <p:cNvSpPr txBox="1"/>
          <p:nvPr/>
        </p:nvSpPr>
        <p:spPr>
          <a:xfrm>
            <a:off x="131089" y="1681898"/>
            <a:ext cx="4755964" cy="516914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defTabSz="914400"/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The bottom right shows the conceptual model used to create the Name Navigator database.</a:t>
            </a:r>
            <a:endParaRPr lang="en-US" dirty="0"/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/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This model illustrates the entities—Name, Particle Order, Particle, Locale, Honorific, and Person—representing the tables and their relationships that form the foundation of the database.</a:t>
            </a:r>
            <a:endParaRPr lang="en-US" dirty="0">
              <a:cs typeface="Calibri"/>
            </a:endParaRPr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/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marL="285750" indent="-285750" defTabSz="914400">
              <a:buFont typeface="Symbol"/>
              <a:buChar char="•"/>
            </a:pP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Particle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– In the context of this database application, a particle refers to an individual component of a person's full name, specific to the chosen locale (language and country combination).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914400">
              <a:buFont typeface="Symbol"/>
              <a:buChar char="•"/>
            </a:pP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Particle Order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– In the context of this database application, a particle order refers to the order of all particles making up the full component of a name.</a:t>
            </a:r>
            <a:endParaRPr lang="en-US" dirty="0"/>
          </a:p>
          <a:p>
            <a:pPr defTabSz="914400"/>
            <a:endParaRPr lang="en-US" sz="120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>
              <a:cs typeface="Calibri"/>
            </a:endParaRPr>
          </a:p>
        </p:txBody>
      </p:sp>
      <p:pic>
        <p:nvPicPr>
          <p:cNvPr id="9" name="Picture 8" descr="A diagram of a person&amp;#39;s name&#10;&#10;Description automatically generated">
            <a:extLst>
              <a:ext uri="{FF2B5EF4-FFF2-40B4-BE49-F238E27FC236}">
                <a16:creationId xmlns:a16="http://schemas.microsoft.com/office/drawing/2014/main" id="{0ACD1C53-92A6-240B-B62F-1DF82DA4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714" y="3456959"/>
            <a:ext cx="7300413" cy="339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7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818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993" y="43687"/>
            <a:ext cx="5161412" cy="11556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/>
              <a:t>Logical model </a:t>
            </a:r>
            <a:br>
              <a:rPr lang="en-US" sz="3400" b="1"/>
            </a:br>
            <a:endParaRPr lang="en-US" sz="3400" b="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EC731FD-01FC-7503-2C84-DA2C264BA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32" y="1498517"/>
            <a:ext cx="7631874" cy="498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8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1" b="23519"/>
          <a:stretch/>
        </p:blipFill>
        <p:spPr>
          <a:xfrm>
            <a:off x="-3313" y="10"/>
            <a:ext cx="1219199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5200">
                <a:solidFill>
                  <a:srgbClr val="FFFFFF"/>
                </a:solidFill>
              </a:rPr>
              <a:t>User Journey </a:t>
            </a:r>
            <a:br>
              <a:rPr lang="en-US" sz="5200"/>
            </a:br>
            <a:br>
              <a:rPr lang="en-US" sz="5200"/>
            </a:br>
            <a:br>
              <a:rPr lang="en-US" sz="5200"/>
            </a:br>
            <a:br>
              <a:rPr lang="en-US" sz="5200"/>
            </a:b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CBB25E-1EAA-B774-4D9F-D28CC9290C93}"/>
              </a:ext>
            </a:extLst>
          </p:cNvPr>
          <p:cNvSpPr/>
          <p:nvPr/>
        </p:nvSpPr>
        <p:spPr>
          <a:xfrm>
            <a:off x="169334" y="2906888"/>
            <a:ext cx="2116667" cy="130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Account Manager </a:t>
            </a:r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751BAC0-E069-93B0-C7F4-FEADB5576B2D}"/>
              </a:ext>
            </a:extLst>
          </p:cNvPr>
          <p:cNvSpPr/>
          <p:nvPr/>
        </p:nvSpPr>
        <p:spPr>
          <a:xfrm>
            <a:off x="2728149" y="3301999"/>
            <a:ext cx="1759184" cy="489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Collects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8CAC43-081D-612A-BA94-43CE8773E72B}"/>
              </a:ext>
            </a:extLst>
          </p:cNvPr>
          <p:cNvSpPr/>
          <p:nvPr/>
        </p:nvSpPr>
        <p:spPr>
          <a:xfrm>
            <a:off x="4708406" y="2837038"/>
            <a:ext cx="2521186" cy="1382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Customer's information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A05B8-A45F-2E82-58CD-21E5F1FD4C32}"/>
              </a:ext>
            </a:extLst>
          </p:cNvPr>
          <p:cNvSpPr txBox="1"/>
          <p:nvPr/>
        </p:nvSpPr>
        <p:spPr>
          <a:xfrm>
            <a:off x="307151" y="4641349"/>
            <a:ext cx="27823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ui-sans-serif"/>
                <a:cs typeface="Calibri"/>
              </a:rPr>
              <a:t>Account Manager</a:t>
            </a:r>
            <a:r>
              <a:rPr lang="en-US" dirty="0">
                <a:solidFill>
                  <a:schemeClr val="bg1"/>
                </a:solidFill>
                <a:latin typeface="ui-sans-serif"/>
                <a:cs typeface="Calibri"/>
              </a:rPr>
              <a:t>: Collects the client's information and inputs it into the CRM software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F849F16-4090-CF5D-078B-0FD8A92894FF}"/>
              </a:ext>
            </a:extLst>
          </p:cNvPr>
          <p:cNvSpPr/>
          <p:nvPr/>
        </p:nvSpPr>
        <p:spPr>
          <a:xfrm>
            <a:off x="7688204" y="3319638"/>
            <a:ext cx="1759184" cy="489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Utilized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9137E-701B-2EB2-FCC1-78157D715053}"/>
              </a:ext>
            </a:extLst>
          </p:cNvPr>
          <p:cNvSpPr/>
          <p:nvPr/>
        </p:nvSpPr>
        <p:spPr>
          <a:xfrm>
            <a:off x="9668250" y="2906310"/>
            <a:ext cx="2521186" cy="1382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cs typeface="Calibri"/>
            </a:endParaRPr>
          </a:p>
          <a:p>
            <a:pPr algn="ctr"/>
            <a:r>
              <a:rPr lang="en-US">
                <a:cs typeface="Calibri"/>
              </a:rPr>
              <a:t>Customer service agents</a:t>
            </a:r>
          </a:p>
          <a:p>
            <a:pPr algn="ctr"/>
            <a:endParaRPr lang="en-US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DE9CA-A119-C6F3-8022-C7E5BA61184B}"/>
              </a:ext>
            </a:extLst>
          </p:cNvPr>
          <p:cNvSpPr txBox="1"/>
          <p:nvPr/>
        </p:nvSpPr>
        <p:spPr>
          <a:xfrm>
            <a:off x="4705350" y="4629150"/>
            <a:ext cx="28638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ui-sans-serif"/>
                <a:cs typeface="Calibri"/>
              </a:rPr>
              <a:t>Customer</a:t>
            </a:r>
            <a:r>
              <a:rPr lang="en-US" dirty="0">
                <a:solidFill>
                  <a:schemeClr val="bg1"/>
                </a:solidFill>
                <a:latin typeface="ui-sans-serif"/>
                <a:cs typeface="Calibri"/>
              </a:rPr>
              <a:t>: Provides all components of their identity, including name, email, and phone number.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>
              <a:solidFill>
                <a:srgbClr val="FFFFFF"/>
              </a:solidFill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1FBA7-24DB-04DA-8D8E-DF3FBCEE7896}"/>
              </a:ext>
            </a:extLst>
          </p:cNvPr>
          <p:cNvSpPr txBox="1"/>
          <p:nvPr/>
        </p:nvSpPr>
        <p:spPr>
          <a:xfrm>
            <a:off x="9327136" y="4609939"/>
            <a:ext cx="287126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ui-sans-serif"/>
                <a:cs typeface="Calibri"/>
              </a:rPr>
              <a:t>Agents</a:t>
            </a:r>
            <a:r>
              <a:rPr lang="en-US" dirty="0">
                <a:solidFill>
                  <a:schemeClr val="bg1"/>
                </a:solidFill>
                <a:latin typeface="ui-sans-serif"/>
                <a:cs typeface="Calibri"/>
              </a:rPr>
              <a:t>: Utilize Name Navigator to properly address clients through phone calls, emails, or legal documents.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615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18" y="-404460"/>
            <a:ext cx="6891553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/>
              <a:t>Database queries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0B1D1-05E0-A352-EC30-1295154A1722}"/>
              </a:ext>
            </a:extLst>
          </p:cNvPr>
          <p:cNvSpPr txBox="1"/>
          <p:nvPr/>
        </p:nvSpPr>
        <p:spPr>
          <a:xfrm>
            <a:off x="-8726" y="879618"/>
            <a:ext cx="8669836" cy="583947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1.) How many contacts (unique persons) in the database (</a:t>
            </a:r>
            <a:r>
              <a:rPr lang="en-US" err="1">
                <a:solidFill>
                  <a:srgbClr val="0D0D0D"/>
                </a:solidFill>
                <a:latin typeface="ui-sans-serif"/>
                <a:cs typeface="Calibri"/>
              </a:rPr>
              <a:t>eng_us</a:t>
            </a: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 locale)?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        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     used to track growth of the system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2.) Show preferred names vs. active full name (</a:t>
            </a:r>
            <a:r>
              <a:rPr lang="en-US" err="1">
                <a:solidFill>
                  <a:srgbClr val="0D0D0D"/>
                </a:solidFill>
                <a:latin typeface="ui-sans-serif"/>
                <a:cs typeface="Calibri"/>
              </a:rPr>
              <a:t>eng_us</a:t>
            </a: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 locale)?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          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 Who are the contacts/clients in the system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           used to ensure preferred naming preferences are understood in account interactions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3.) Show use name vs. non-dead legal name for clients How many legal vs. non legal names?</a:t>
            </a:r>
            <a:endParaRPr lang="en-US" sz="120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         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 used to ensure legal names are used for formal documentation, agreements, etc. 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4.) Show preferred names and emails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           How should we address contacts/clients for email marketing and system personalization?</a:t>
            </a:r>
            <a:endParaRPr lang="en-US" sz="14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5.) Show full name associated with email addresses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       How should we address contacts/clients for formal communications and engagements requiring introductions?</a:t>
            </a:r>
            <a:endParaRPr lang="en-US" sz="1400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4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500" dirty="0">
              <a:ea typeface="Calibri"/>
              <a:cs typeface="Calibri"/>
            </a:endParaRPr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86" r="24304"/>
          <a:stretch/>
        </p:blipFill>
        <p:spPr>
          <a:xfrm>
            <a:off x="8563596" y="10"/>
            <a:ext cx="3628405" cy="417284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308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64" y="-522267"/>
            <a:ext cx="701722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/>
              <a:t>Database queries cont'd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0B1D1-05E0-A352-EC30-1295154A1722}"/>
              </a:ext>
            </a:extLst>
          </p:cNvPr>
          <p:cNvSpPr txBox="1"/>
          <p:nvPr/>
        </p:nvSpPr>
        <p:spPr>
          <a:xfrm>
            <a:off x="-275" y="683216"/>
            <a:ext cx="9132828" cy="631339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6.) Show legal name associated with an email address.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    How should we address contacts/clients in formal legal documentation?</a:t>
            </a:r>
            <a:endParaRPr lang="en-US" sz="1400">
              <a:latin typeface="ui-sans-serif"/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7.) Show the full set of unique email addresses (</a:t>
            </a:r>
            <a:r>
              <a:rPr lang="en-US" dirty="0" err="1">
                <a:solidFill>
                  <a:srgbClr val="0D0D0D"/>
                </a:solidFill>
                <a:latin typeface="ui-sans-serif"/>
                <a:cs typeface="Calibri"/>
              </a:rPr>
              <a:t>eng_us</a:t>
            </a: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 locale).</a:t>
            </a:r>
            <a:endParaRPr lang="en-US" sz="5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500" dirty="0"/>
              <a:t>    </a:t>
            </a:r>
            <a:r>
              <a:rPr lang="en-US" sz="1400" dirty="0">
                <a:latin typeface="ui-sans-serif"/>
              </a:rPr>
              <a:t>   reviewed for data maintenance, data cleansing, and GDPR legal compliance</a:t>
            </a:r>
            <a:endParaRPr lang="en-US" sz="1400" dirty="0">
              <a:latin typeface="ui-sans-serif"/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8.) Show all dead names (</a:t>
            </a:r>
            <a:r>
              <a:rPr lang="en-US" dirty="0" err="1">
                <a:solidFill>
                  <a:srgbClr val="0D0D0D"/>
                </a:solidFill>
                <a:latin typeface="ui-sans-serif"/>
                <a:cs typeface="Calibri"/>
              </a:rPr>
              <a:t>eng_us</a:t>
            </a: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 locale)</a:t>
            </a:r>
            <a:endParaRPr lang="en-US" sz="5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    this list can be reviewed to ensure all communications and touch points with the person avoids the use of the dead name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>
              <a:solidFill>
                <a:srgbClr val="0D0D0D"/>
              </a:solidFill>
              <a:latin typeface="ui-sans-serif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9.) How many records lack a particle IPA?</a:t>
            </a:r>
            <a:endParaRPr lang="en-US" sz="5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     used for data maintenance and cleansing.  A linguist would use this query to find records to update.</a:t>
            </a:r>
            <a:endParaRPr lang="en-US" sz="1400">
              <a:latin typeface="ui-sans-serif"/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     future versions of the application could integrate with an </a:t>
            </a:r>
            <a:r>
              <a:rPr lang="en-US" sz="1400" dirty="0" err="1">
                <a:latin typeface="ui-sans-serif"/>
              </a:rPr>
              <a:t>ipa</a:t>
            </a:r>
            <a:r>
              <a:rPr lang="en-US" sz="1400" dirty="0">
                <a:latin typeface="ui-sans-serif"/>
              </a:rPr>
              <a:t> service and auto-populate these records</a:t>
            </a:r>
            <a:endParaRPr lang="en-US" sz="1400" dirty="0">
              <a:latin typeface="ui-sans-serif"/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10.) Getting average amount of particles per name</a:t>
            </a:r>
            <a:endParaRPr lang="en-US" sz="5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     used to determine if the system is being used as intended.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ui-sans-serif"/>
              </a:rPr>
              <a:t>         can be used as a metric for marketing teams that maintain a % Complete for IPA entries to ensure the particles being entered assist the team in properly personalizing interactions with clients. 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>
              <a:ea typeface="Calibri"/>
              <a:cs typeface="Calibri"/>
            </a:endParaRPr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86" r="24304"/>
          <a:stretch/>
        </p:blipFill>
        <p:spPr>
          <a:xfrm>
            <a:off x="9029263" y="3217343"/>
            <a:ext cx="3156690" cy="364065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618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89" y="-21728"/>
            <a:ext cx="5767542" cy="13543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 dirty="0">
                <a:latin typeface="+mj-lt"/>
                <a:ea typeface="+mj-ea"/>
                <a:cs typeface="+mj-cs"/>
              </a:rPr>
              <a:t>Reporting </a:t>
            </a:r>
            <a:r>
              <a:rPr lang="en-US" sz="4000" dirty="0"/>
              <a:t> </a:t>
            </a:r>
            <a:r>
              <a:rPr lang="en-US" sz="4000" kern="1200" dirty="0">
                <a:latin typeface="+mj-lt"/>
                <a:ea typeface="+mj-ea"/>
                <a:cs typeface="+mj-cs"/>
              </a:rPr>
              <a:t>Visualization</a:t>
            </a:r>
            <a:r>
              <a:rPr lang="en-US" sz="4400" dirty="0"/>
              <a:t> 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92E3B-B2E4-0DE7-7624-5C488B038EF1}"/>
              </a:ext>
            </a:extLst>
          </p:cNvPr>
          <p:cNvSpPr txBox="1"/>
          <p:nvPr/>
        </p:nvSpPr>
        <p:spPr>
          <a:xfrm>
            <a:off x="162466" y="1193200"/>
            <a:ext cx="6100548" cy="51074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1. Customer Distribution by Locality vs. Customer Agent Allocation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ui-sans-serif"/>
                <a:cs typeface="Calibri"/>
              </a:rPr>
              <a:t>Description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: This KPI visualizes the number of customers in each locality compared to the number of customer agents representing each locality.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ui-sans-serif"/>
                <a:cs typeface="Calibri"/>
              </a:rPr>
              <a:t>Benefits: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 It aids account managers and hiring teams in optimizing workforce allocation to enhance productivity by aligning the number of agents with the customer distribution.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2. Usage of the Override Feature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ui-sans-serif"/>
                <a:cs typeface="Calibri"/>
              </a:rPr>
              <a:t>Description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: This report compares the number of customers using the override feature against those who do not.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ui-sans-serif"/>
                <a:cs typeface="Calibri"/>
              </a:rPr>
              <a:t>Benefits:</a:t>
            </a:r>
            <a:r>
              <a:rPr lang="en-US" sz="1400" dirty="0">
                <a:solidFill>
                  <a:srgbClr val="0D0D0D"/>
                </a:solidFill>
                <a:latin typeface="ui-sans-serif"/>
                <a:cs typeface="Calibri"/>
              </a:rPr>
              <a:t> It enables account managers to set goals for their customer agents based on override feature usage. Additionally, it provides insights into whether the overrides are customer-initiated or if agents frequently set it as a default, allowing for better understanding and control over this feature’s usage.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85" r="3" b="3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46" name="Arc 4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31992-F7AF-1434-A175-6FADB11425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023" r="23383" b="2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953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62" r="-2" b="23851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3" name="Picture 2" descr="A group of people holding signs&#10;&#10;Description automatically generated">
            <a:extLst>
              <a:ext uri="{FF2B5EF4-FFF2-40B4-BE49-F238E27FC236}">
                <a16:creationId xmlns:a16="http://schemas.microsoft.com/office/drawing/2014/main" id="{B64373F8-DA60-AECD-FDEA-43A67C90EE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4937" r="-2" b="11398"/>
          <a:stretch/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002" y="85325"/>
            <a:ext cx="3964589" cy="1373240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>
                <a:cs typeface="Calibri Light"/>
              </a:rPr>
              <a:t>Target Audience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38279-4024-4B55-70DB-00EC5F388E04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3DD85-0B82-8472-686D-326B83485F1F}"/>
              </a:ext>
            </a:extLst>
          </p:cNvPr>
          <p:cNvSpPr txBox="1"/>
          <p:nvPr/>
        </p:nvSpPr>
        <p:spPr>
          <a:xfrm>
            <a:off x="431030" y="2108969"/>
            <a:ext cx="49260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Our target audience includes companies and business professionals who utilize Customer Relationship Management (CRM) applications to manage and oversee their customer base.</a:t>
            </a:r>
          </a:p>
        </p:txBody>
      </p:sp>
    </p:spTree>
    <p:extLst>
      <p:ext uri="{BB962C8B-B14F-4D97-AF65-F5344CB8AC3E}">
        <p14:creationId xmlns:p14="http://schemas.microsoft.com/office/powerpoint/2010/main" val="3725794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phere of mesh and nodes">
            <a:extLst>
              <a:ext uri="{FF2B5EF4-FFF2-40B4-BE49-F238E27FC236}">
                <a16:creationId xmlns:a16="http://schemas.microsoft.com/office/drawing/2014/main" id="{4DE8B3FD-B12F-943C-60A2-CD207AB4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1" b="23519"/>
          <a:stretch/>
        </p:blipFill>
        <p:spPr>
          <a:xfrm>
            <a:off x="26640" y="2864"/>
            <a:ext cx="1219199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D1A231-52F6-5C93-B33C-6C78CBC4C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444" y="87548"/>
            <a:ext cx="11411185" cy="948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cs typeface="Calibri Light"/>
              </a:rPr>
              <a:t>Reflection and Lessons Learned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0783B-7CD7-359A-D8F5-FEFDA487FBD4}"/>
              </a:ext>
            </a:extLst>
          </p:cNvPr>
          <p:cNvSpPr txBox="1"/>
          <p:nvPr/>
        </p:nvSpPr>
        <p:spPr>
          <a:xfrm>
            <a:off x="489185" y="1335851"/>
            <a:ext cx="1130770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We actively controlled scope to fit within our deadline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By starting and brainstorming ideas early we were able to pick a sufficient  topic that we were all passionate about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By starting all the deliverables early and in parallel , we were able to delegate tasks evenly among the team.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By working on the conceptual and logical models together we were able to gain a great understanding about the structure of the project.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One lesson learned was on how to parse a list to stored procedure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We were able to use our diverse and individual creativity to achieve a complex and enriched database</a:t>
            </a:r>
          </a:p>
          <a:p>
            <a:endParaRPr lang="en-US" dirty="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655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7860-75DC-793A-D7A2-711F996E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Applications UI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B0D07-E5F4-2F7E-D99C-55C66DA1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CB42-8B44-1A3C-0320-D6E022B9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screenshot of a phone number&#10;&#10;Description automatically generated">
            <a:extLst>
              <a:ext uri="{FF2B5EF4-FFF2-40B4-BE49-F238E27FC236}">
                <a16:creationId xmlns:a16="http://schemas.microsoft.com/office/drawing/2014/main" id="{5ACD6B5D-928F-42B5-FFBC-B203E710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92" y="1615124"/>
            <a:ext cx="8933329" cy="493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5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7860-75DC-793A-D7A2-711F996E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11" y="158936"/>
            <a:ext cx="10062883" cy="1155234"/>
          </a:xfrm>
        </p:spPr>
        <p:txBody>
          <a:bodyPr/>
          <a:lstStyle/>
          <a:p>
            <a:r>
              <a:rPr lang="en-US" dirty="0"/>
              <a:t>Databases Applications UI(Cont'd)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B0D07-E5F4-2F7E-D99C-55C66DA1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CB42-8B44-1A3C-0320-D6E022B9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A955BA7-A1BE-C084-1924-D3D7D33B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00" y="1293891"/>
            <a:ext cx="6917303" cy="524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50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7860-75DC-793A-D7A2-711F996E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11" y="158936"/>
            <a:ext cx="10062883" cy="1155234"/>
          </a:xfrm>
        </p:spPr>
        <p:txBody>
          <a:bodyPr/>
          <a:lstStyle/>
          <a:p>
            <a:r>
              <a:rPr lang="en-US" dirty="0"/>
              <a:t>Databases Applications UI (Cont'd)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B0D07-E5F4-2F7E-D99C-55C66DA1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CB42-8B44-1A3C-0320-D6E022B9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CDAD21-7943-A9C7-F3E5-1D248C5B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646" y="987988"/>
            <a:ext cx="5779037" cy="537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6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7860-75DC-793A-D7A2-711F996E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Applications UI (Cont'd)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B0D07-E5F4-2F7E-D99C-55C66DA1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6/17/2024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CB42-8B44-1A3C-0320-D6E022B9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5F369FD-F965-11BF-923A-A06A5DD7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570" y="1519259"/>
            <a:ext cx="7590450" cy="49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1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48D9584-D2FD-48CE-9E17-4E250B74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women wearing colorful clothes&#10;&#10;Description automatically generated">
            <a:extLst>
              <a:ext uri="{FF2B5EF4-FFF2-40B4-BE49-F238E27FC236}">
                <a16:creationId xmlns:a16="http://schemas.microsoft.com/office/drawing/2014/main" id="{B6E50182-CE29-A709-024C-C43D0BA0D3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657" b="1"/>
          <a:stretch/>
        </p:blipFill>
        <p:spPr>
          <a:xfrm>
            <a:off x="5309035" y="9"/>
            <a:ext cx="3781877" cy="2966130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3" name="Picture 2" descr="A group of people smiling&#10;&#10;Description automatically generated">
            <a:extLst>
              <a:ext uri="{FF2B5EF4-FFF2-40B4-BE49-F238E27FC236}">
                <a16:creationId xmlns:a16="http://schemas.microsoft.com/office/drawing/2014/main" id="{01F70531-104A-82C5-B59C-021C1D80EE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1179" r="20419" b="1"/>
          <a:stretch/>
        </p:blipFill>
        <p:spPr>
          <a:xfrm>
            <a:off x="8752756" y="4159056"/>
            <a:ext cx="3439244" cy="2698945"/>
          </a:xfrm>
          <a:custGeom>
            <a:avLst/>
            <a:gdLst/>
            <a:ahLst/>
            <a:cxnLst/>
            <a:rect l="l" t="t" r="r" b="b"/>
            <a:pathLst>
              <a:path w="4369477" h="3401568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9" name="Picture 8" descr="A group of men in orange clothes playing instruments&#10;&#10;Description automatically generated">
            <a:extLst>
              <a:ext uri="{FF2B5EF4-FFF2-40B4-BE49-F238E27FC236}">
                <a16:creationId xmlns:a16="http://schemas.microsoft.com/office/drawing/2014/main" id="{284275FB-5D4C-6347-5DFD-BD604CCE73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3346"/>
          <a:stretch/>
        </p:blipFill>
        <p:spPr>
          <a:xfrm>
            <a:off x="5451142" y="4159055"/>
            <a:ext cx="3906181" cy="2698945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CA17DEF4-6C5D-41C6-8D93-5C7CFD7AD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22BBC5A3-5C8C-4FB9-AEFF-8778D2C9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E755-5019-EAE1-0C8E-920BE297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366" y="1221773"/>
            <a:ext cx="8377052" cy="5402362"/>
          </a:xfrm>
        </p:spPr>
        <p:txBody>
          <a:bodyPr>
            <a:normAutofit/>
          </a:bodyPr>
          <a:lstStyle/>
          <a:p>
            <a:pPr algn="l"/>
            <a:br>
              <a:rPr lang="en-US" sz="4000"/>
            </a:br>
            <a:br>
              <a:rPr lang="en-US" sz="4000"/>
            </a:br>
            <a:br>
              <a:rPr lang="en-US" sz="4000"/>
            </a:br>
            <a:br>
              <a:rPr lang="en-US" sz="4000"/>
            </a:br>
            <a:endParaRPr lang="en-US" sz="40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B917E8-D696-4787-96D6-521A9C42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Free photo: Culture, Africa, Mexico - Free Image on Pixabay - 1475558">
            <a:extLst>
              <a:ext uri="{FF2B5EF4-FFF2-40B4-BE49-F238E27FC236}">
                <a16:creationId xmlns:a16="http://schemas.microsoft.com/office/drawing/2014/main" id="{8B8AAEC0-9A65-6E4C-DC19-BEA77A5DACE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232" r="11470" b="1"/>
          <a:stretch/>
        </p:blipFill>
        <p:spPr>
          <a:xfrm>
            <a:off x="8458765" y="9"/>
            <a:ext cx="3733237" cy="2966130"/>
          </a:xfrm>
          <a:custGeom>
            <a:avLst/>
            <a:gdLst/>
            <a:ahLst/>
            <a:cxnLst/>
            <a:rect l="l" t="t" r="r" b="b"/>
            <a:pathLst>
              <a:path w="4346795" h="3401568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9F4C545-E278-42ED-9B78-2EBA46444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CC843E-429F-4AB5-6900-910C8C30648B}"/>
              </a:ext>
            </a:extLst>
          </p:cNvPr>
          <p:cNvSpPr txBox="1"/>
          <p:nvPr/>
        </p:nvSpPr>
        <p:spPr>
          <a:xfrm>
            <a:off x="131783" y="403266"/>
            <a:ext cx="3749039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6A8AC-656D-3B70-82B2-26406A8F04F9}"/>
              </a:ext>
            </a:extLst>
          </p:cNvPr>
          <p:cNvSpPr txBox="1"/>
          <p:nvPr/>
        </p:nvSpPr>
        <p:spPr>
          <a:xfrm>
            <a:off x="128648" y="1593272"/>
            <a:ext cx="596735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What's Our Purpose?</a:t>
            </a:r>
            <a:endParaRPr lang="en-US" dirty="0"/>
          </a:p>
          <a:p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Our mission is to highlight the significance of people's names by accurately capturing their essence and pronunciation resulting to high customer satisfaction</a:t>
            </a:r>
            <a:endParaRPr lang="en-US" dirty="0">
              <a:cs typeface="Calibri"/>
            </a:endParaRPr>
          </a:p>
          <a:p>
            <a:endParaRPr lang="en-US" b="1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solidFill>
                  <a:srgbClr val="0D0D0D"/>
                </a:solidFill>
                <a:latin typeface="ui-sans-serif"/>
                <a:cs typeface="Calibri"/>
              </a:rPr>
              <a:t>What Does the Future Look Like?</a:t>
            </a:r>
            <a:endParaRPr lang="en-US" dirty="0"/>
          </a:p>
          <a:p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We plan to integrate AI technology to assist Customer Service agents in correctly pronouncing names, enhancing personalized service.</a:t>
            </a:r>
            <a:endParaRPr lang="en-US" dirty="0"/>
          </a:p>
          <a:p>
            <a:endParaRPr lang="en-US">
              <a:cs typeface="Calibri"/>
            </a:endParaRPr>
          </a:p>
          <a:p>
            <a:r>
              <a:rPr lang="en-US" sz="1200">
                <a:solidFill>
                  <a:srgbClr val="0D0D0D"/>
                </a:solidFill>
                <a:latin typeface="ui-sans-serif"/>
                <a:cs typeface="Calibri"/>
              </a:rPr>
              <a:t>With Machine Learning adaptability the use of neural network and deep learning can give the </a:t>
            </a:r>
            <a:r>
              <a:rPr lang="en-US" sz="1200" dirty="0">
                <a:solidFill>
                  <a:srgbClr val="0D0D0D"/>
                </a:solidFill>
                <a:latin typeface="ui-sans-serif"/>
                <a:cs typeface="Calibri"/>
              </a:rPr>
              <a:t>software adaptability to learn subtle patterns and strategies.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888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2013 - 2022 Theme</vt:lpstr>
      <vt:lpstr>Name Navigator      Our goal is to achieve cultural awareness by accurately capturing and respecting the nuances of sensitive names. </vt:lpstr>
      <vt:lpstr>PowerPoint Presentation</vt:lpstr>
      <vt:lpstr>Conceptual model  </vt:lpstr>
      <vt:lpstr>Logical model  </vt:lpstr>
      <vt:lpstr>User Journey     </vt:lpstr>
      <vt:lpstr>Database queries </vt:lpstr>
      <vt:lpstr>Database queries cont'd</vt:lpstr>
      <vt:lpstr>Reporting  Visualization </vt:lpstr>
      <vt:lpstr>Target Audience</vt:lpstr>
      <vt:lpstr>Reflection and Lessons Learned</vt:lpstr>
      <vt:lpstr>Databases Applications UI</vt:lpstr>
      <vt:lpstr>Databases Applications UI(Cont'd)</vt:lpstr>
      <vt:lpstr>Databases Applications UI (Cont'd)</vt:lpstr>
      <vt:lpstr>Databases Applications UI (Cont'd)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project  vision or aim of the project</dc:title>
  <dc:creator>ds etti</dc:creator>
  <cp:revision>452</cp:revision>
  <dcterms:created xsi:type="dcterms:W3CDTF">2024-05-18T23:13:13Z</dcterms:created>
  <dcterms:modified xsi:type="dcterms:W3CDTF">2024-06-18T01:04:27Z</dcterms:modified>
</cp:coreProperties>
</file>